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023360" cy="402336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4663440"/>
            <a:ext cx="3383280" cy="338328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  ·  EDUCATIONAL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542032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Medical Symptom Assessment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Patient Guidance Prototype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LangChain + Streamlit  ·  Course module: Building LLM Applications with LangChain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7091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medical-app897897.streamlit.app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53212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3A1418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5687568"/>
            <a:ext cx="457200" cy="4572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1" name="Image 0" descr="/home/claude/medi_ppt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5797296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553212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medical device — not a doctor, diagnosis, or emergency service. In an emergency, call your local emergency number immediately.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from patient form to a color-coded briefing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5400000">
              <a:srgbClr val="8FB8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medi_ppt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0378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5564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Collect Intake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symptoms, duration, severity, conditions, medications, notes.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55448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5400000">
              <a:srgbClr val="8FB8B5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medi_ppt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413" y="190378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175564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Safety-First Prompt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53712" y="242316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an OpenAI chat model via a LangChain LLMChain.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55448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5400000">
              <a:srgbClr val="8FB8B5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medi_ppt/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885" y="190378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175564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Parse JSON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30184" y="242316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assessment: summary, topics, urgency, next steps, questions.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5400000">
              <a:srgbClr val="8FB8B5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389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medi_ppt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50982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3616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Stream Briefing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502920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human-readable narrative streams live into the UI.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41605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5400000">
              <a:srgbClr val="8FB8B5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389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medi_ppt/activ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413" y="4509821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43616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Urgency Color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53712" y="502920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/ EMERGENCY shown at a glance.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41605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5400000">
              <a:srgbClr val="8FB8B5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43891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/home/claude/medi_ppt/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0885" y="4509821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43616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Optional Cache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30184" y="5029200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prompts can be cached — InMemory or SQLite.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Layout &amp; Data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medical_ai_assistant/ — a clear separation of UI, logic, and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475488"/>
          </a:xfrm>
          <a:prstGeom prst="roundRect">
            <a:avLst>
              <a:gd name="adj" fmla="val 11538"/>
            </a:avLst>
          </a:prstGeom>
          <a:solidFill>
            <a:srgbClr val="028090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063240" y="160020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— run this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5760720" cy="475488"/>
          </a:xfrm>
          <a:prstGeom prst="roundRect">
            <a:avLst>
              <a:gd name="adj" fmla="val 11538"/>
            </a:avLst>
          </a:prstGeom>
          <a:solidFill>
            <a:srgbClr val="028090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6712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src/config.py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63240" y="2167128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Settings, form options, .env loading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34056"/>
            <a:ext cx="5760720" cy="475488"/>
          </a:xfrm>
          <a:prstGeom prst="roundRect">
            <a:avLst>
              <a:gd name="adj" fmla="val 11538"/>
            </a:avLst>
          </a:prstGeom>
          <a:solidFill>
            <a:srgbClr val="028090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3405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src/prompts.py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63240" y="273405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PromptTemplate, ChatPromptTemplate, JSON schema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00984"/>
            <a:ext cx="5760720" cy="475488"/>
          </a:xfrm>
          <a:prstGeom prst="roundRect">
            <a:avLst>
              <a:gd name="adj" fmla="val 11538"/>
            </a:avLst>
          </a:prstGeom>
          <a:solidFill>
            <a:srgbClr val="028090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009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src/chains.py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63240" y="330098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ChatOpenAI, LLMChain, messages, streaming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67912"/>
            <a:ext cx="5760720" cy="475488"/>
          </a:xfrm>
          <a:prstGeom prst="roundRect">
            <a:avLst>
              <a:gd name="adj" fmla="val 11538"/>
            </a:avLst>
          </a:prstGeom>
          <a:solidFill>
            <a:srgbClr val="028090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6791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src/cache_manager.py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386791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InMemoryCache + SQLiteCache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5760720" cy="475488"/>
          </a:xfrm>
          <a:prstGeom prst="roundRect">
            <a:avLst>
              <a:gd name="adj" fmla="val 11538"/>
            </a:avLst>
          </a:prstGeom>
          <a:solidFill>
            <a:srgbClr val="028090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3484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src/utils.py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063240" y="4434840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JSON parsing and helpers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1600200"/>
            <a:ext cx="4937760" cy="4160520"/>
          </a:xfrm>
          <a:prstGeom prst="roundRect">
            <a:avLst>
              <a:gd name="adj" fmla="val 2198"/>
            </a:avLst>
          </a:prstGeom>
          <a:solidFill>
            <a:srgbClr val="00A896">
              <a:alpha val="2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874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0" descr="/home/claude/medi_ppt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984248"/>
            <a:ext cx="237744" cy="23774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543800" y="1874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995160" y="25603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4"/>
          <p:cNvSpPr/>
          <p:nvPr/>
        </p:nvSpPr>
        <p:spPr>
          <a:xfrm>
            <a:off x="7269480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input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068312" y="2715768"/>
            <a:ext cx="0" cy="256032"/>
          </a:xfrm>
          <a:prstGeom prst="line">
            <a:avLst/>
          </a:prstGeom>
          <a:noFill/>
          <a:ln w="15875">
            <a:solidFill>
              <a:srgbClr val="00A896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6995160" y="30175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7"/>
          <p:cNvSpPr/>
          <p:nvPr/>
        </p:nvSpPr>
        <p:spPr>
          <a:xfrm>
            <a:off x="7269480" y="2880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 inputs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068312" y="3172968"/>
            <a:ext cx="0" cy="256032"/>
          </a:xfrm>
          <a:prstGeom prst="line">
            <a:avLst/>
          </a:prstGeom>
          <a:noFill/>
          <a:ln w="15875">
            <a:solidFill>
              <a:srgbClr val="00A896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6995160" y="34747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Text 30"/>
          <p:cNvSpPr/>
          <p:nvPr/>
        </p:nvSpPr>
        <p:spPr>
          <a:xfrm>
            <a:off x="7269480" y="3337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cache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068312" y="3630168"/>
            <a:ext cx="0" cy="256032"/>
          </a:xfrm>
          <a:prstGeom prst="line">
            <a:avLst/>
          </a:prstGeom>
          <a:noFill/>
          <a:ln w="15875">
            <a:solidFill>
              <a:srgbClr val="00A896"/>
            </a:solidFill>
            <a:prstDash val="dash"/>
          </a:ln>
        </p:spPr>
      </p:sp>
      <p:sp>
        <p:nvSpPr>
          <p:cNvPr id="35" name="Shape 32"/>
          <p:cNvSpPr/>
          <p:nvPr/>
        </p:nvSpPr>
        <p:spPr>
          <a:xfrm>
            <a:off x="6995160" y="39319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3"/>
          <p:cNvSpPr/>
          <p:nvPr/>
        </p:nvSpPr>
        <p:spPr>
          <a:xfrm>
            <a:off x="7269480" y="3794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ChatOpenAI + LLMChain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068312" y="4087368"/>
            <a:ext cx="0" cy="256032"/>
          </a:xfrm>
          <a:prstGeom prst="line">
            <a:avLst/>
          </a:prstGeom>
          <a:noFill/>
          <a:ln w="15875">
            <a:solidFill>
              <a:srgbClr val="00A896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6995160" y="43891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9" name="Text 36"/>
          <p:cNvSpPr/>
          <p:nvPr/>
        </p:nvSpPr>
        <p:spPr>
          <a:xfrm>
            <a:off x="7269480" y="4251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7068312" y="4544568"/>
            <a:ext cx="0" cy="256032"/>
          </a:xfrm>
          <a:prstGeom prst="line">
            <a:avLst/>
          </a:prstGeom>
          <a:noFill/>
          <a:ln w="15875">
            <a:solidFill>
              <a:srgbClr val="00A896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>
            <a:off x="6995160" y="48463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39"/>
          <p:cNvSpPr/>
          <p:nvPr/>
        </p:nvSpPr>
        <p:spPr>
          <a:xfrm>
            <a:off x="7269480" y="4709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narrative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7068312" y="5001768"/>
            <a:ext cx="0" cy="256032"/>
          </a:xfrm>
          <a:prstGeom prst="line">
            <a:avLst/>
          </a:prstGeom>
          <a:noFill/>
          <a:ln w="15875">
            <a:solidFill>
              <a:srgbClr val="00A896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6995160" y="530352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5" name="Text 42"/>
          <p:cNvSpPr/>
          <p:nvPr/>
        </p:nvSpPr>
        <p:spPr>
          <a:xfrm>
            <a:off x="7269480" y="5166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in Four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(including 3.14) — LLMChain loads from langchain-classic on LangChain 1.x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4206240"/>
          </a:xfrm>
          <a:prstGeom prst="roundRect">
            <a:avLst>
              <a:gd name="adj" fmla="val 3237"/>
            </a:avLst>
          </a:prstGeom>
          <a:solidFill>
            <a:srgbClr val="EAF6F6"/>
          </a:solidFill>
          <a:ln/>
        </p:spPr>
      </p:sp>
      <p:sp>
        <p:nvSpPr>
          <p:cNvPr id="5" name="Shape 3"/>
          <p:cNvSpPr/>
          <p:nvPr/>
        </p:nvSpPr>
        <p:spPr>
          <a:xfrm>
            <a:off x="1568196" y="1892808"/>
            <a:ext cx="502920" cy="502920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6" name="Text 4"/>
          <p:cNvSpPr/>
          <p:nvPr/>
        </p:nvSpPr>
        <p:spPr>
          <a:xfrm>
            <a:off x="1568196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56032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virtual env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108960"/>
            <a:ext cx="213969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venv .venv, then activate it (Windows: .venv\Scripts\Activate.ps1 · macOS/Linux: source .venv/bin/activate).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346704" y="1600200"/>
            <a:ext cx="2542032" cy="4206240"/>
          </a:xfrm>
          <a:prstGeom prst="roundRect">
            <a:avLst>
              <a:gd name="adj" fmla="val 3237"/>
            </a:avLst>
          </a:prstGeom>
          <a:solidFill>
            <a:srgbClr val="EAF6F6"/>
          </a:solidFill>
          <a:ln/>
        </p:spPr>
      </p:sp>
      <p:sp>
        <p:nvSpPr>
          <p:cNvPr id="10" name="Shape 8"/>
          <p:cNvSpPr/>
          <p:nvPr/>
        </p:nvSpPr>
        <p:spPr>
          <a:xfrm>
            <a:off x="4366260" y="1892808"/>
            <a:ext cx="502920" cy="502920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1" name="Text 9"/>
          <p:cNvSpPr/>
          <p:nvPr/>
        </p:nvSpPr>
        <p:spPr>
          <a:xfrm>
            <a:off x="436626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11296" y="256032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packages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47872" y="3108960"/>
            <a:ext cx="213969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144768" y="1600200"/>
            <a:ext cx="2542032" cy="4206240"/>
          </a:xfrm>
          <a:prstGeom prst="roundRect">
            <a:avLst>
              <a:gd name="adj" fmla="val 3237"/>
            </a:avLst>
          </a:prstGeom>
          <a:solidFill>
            <a:srgbClr val="EA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164324" y="1892808"/>
            <a:ext cx="502920" cy="502920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6" name="Text 14"/>
          <p:cNvSpPr/>
          <p:nvPr/>
        </p:nvSpPr>
        <p:spPr>
          <a:xfrm>
            <a:off x="7164324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256032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OpenAI key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45936" y="3108960"/>
            <a:ext cx="213969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.env.example to .env, paste OPENAI_API_KEY and OPENAI_MODEL. Never commit .env — it's git-ignored.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942832" y="1600200"/>
            <a:ext cx="2542032" cy="4206240"/>
          </a:xfrm>
          <a:prstGeom prst="roundRect">
            <a:avLst>
              <a:gd name="adj" fmla="val 3237"/>
            </a:avLst>
          </a:prstGeom>
          <a:solidFill>
            <a:srgbClr val="EAF6F6"/>
          </a:solidFill>
          <a:ln/>
        </p:spPr>
      </p:sp>
      <p:sp>
        <p:nvSpPr>
          <p:cNvPr id="20" name="Shape 18"/>
          <p:cNvSpPr/>
          <p:nvPr/>
        </p:nvSpPr>
        <p:spPr>
          <a:xfrm>
            <a:off x="9962388" y="1892808"/>
            <a:ext cx="502920" cy="502920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21" name="Text 19"/>
          <p:cNvSpPr/>
          <p:nvPr/>
        </p:nvSpPr>
        <p:spPr>
          <a:xfrm>
            <a:off x="9962388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07424" y="256032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44000" y="3108960"/>
            <a:ext cx="213969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8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app.py, then open the local URL (usually localhost:8501).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key is loaded with python-dotenv at startup (src/config.py) — it is never hard-coded.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Features Implemented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concept maps to a concrete piece of code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206240" cy="45720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417320"/>
            <a:ext cx="6492240" cy="45720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4173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4206240" cy="530352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ChatOpenAI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6492240" cy="530352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74520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src/chains.py → build_llm()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404872"/>
            <a:ext cx="4206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0487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SystemMessage / HumanMessage / AIMessage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2404872"/>
            <a:ext cx="6492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404872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demo_system_human_ai() and chat templates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935224"/>
            <a:ext cx="4206240" cy="530352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93522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PromptTemplate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935224"/>
            <a:ext cx="6492240" cy="530352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935224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src/prompts.py → PATIENT_CONTEXT_TEMPLATE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65576"/>
            <a:ext cx="4206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4655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ChatPromptTemplate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3465576"/>
            <a:ext cx="6492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465576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ASSESSMENT_CHAT_TEMPLATE and NARRATIVE_CHAT_TEMPLATE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995928"/>
            <a:ext cx="4206240" cy="530352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99592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 JSON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3995928"/>
            <a:ext cx="6492240" cy="530352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995928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src/utils.py (parse_assessment_json)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4206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5262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LLMChain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4526280"/>
            <a:ext cx="6492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4526280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build_assessment_chain()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056632"/>
            <a:ext cx="4206240" cy="530352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056632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5056632"/>
            <a:ext cx="6492240" cy="530352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5056632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stream_narrative() + st.write_stream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5586984"/>
            <a:ext cx="4206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58698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Caching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54880" y="5586984"/>
            <a:ext cx="6492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5586984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src/cache_manager.py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Caching: InMemory vs SQLite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once with set_llm_cache() — LangChain checks it before every model call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3246120"/>
          </a:xfrm>
          <a:prstGeom prst="roundRect">
            <a:avLst>
              <a:gd name="adj" fmla="val 2817"/>
            </a:avLst>
          </a:prstGeom>
          <a:solidFill>
            <a:srgbClr val="EAF6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8424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medi_ppt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10494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0253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InMemoryCache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65176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(process memory)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65176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1440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restart?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65176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1440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65176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Streamlit session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26480" y="1691640"/>
            <a:ext cx="5120640" cy="3246120"/>
          </a:xfrm>
          <a:prstGeom prst="roundRect">
            <a:avLst>
              <a:gd name="adj" fmla="val 2817"/>
            </a:avLst>
          </a:prstGeom>
          <a:solidFill>
            <a:srgbClr val="0F3D3E"/>
          </a:solidFill>
          <a:ln/>
        </p:spPr>
      </p:sp>
      <p:sp>
        <p:nvSpPr>
          <p:cNvPr id="17" name="Shape 14"/>
          <p:cNvSpPr/>
          <p:nvPr/>
        </p:nvSpPr>
        <p:spPr>
          <a:xfrm>
            <a:off x="6446520" y="1984248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1" descr="/home/claude/medi_ppt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21" y="2104949"/>
            <a:ext cx="261518" cy="26151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086600" y="200253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SQLiteCache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49224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822960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on disk (.db)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49224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822960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slightly slower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49224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restart?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822960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49224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822960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across sessions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548640" y="5166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see it: turn cache On, submit a form, then submit the same form again — the second JSON assessment finishes much faster with an identical result.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48640" y="5623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streamed narrative is a separate prompt — it's cached independently after its first run.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Strict JSON Contract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instructed to return only this object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760720" cy="4572000"/>
          </a:xfrm>
          <a:prstGeom prst="roundRect">
            <a:avLst>
              <a:gd name="adj" fmla="val 1600"/>
            </a:avLst>
          </a:prstGeom>
          <a:solidFill>
            <a:srgbClr val="0A2E2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 "",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"possible_conditions": [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"name": "", "reason": "" }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"urgency_level": "",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"recommended_next_steps": [],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"questions_for_doctor": [],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"warning_signs": []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FE9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0" y="155448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00A896">
              <a:alpha val="2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8288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0" descr="/home/claude/medi_ppt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8701" y="1949501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0" y="18470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utils.py keeps it safe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03720" y="251460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accidental ```json fences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json.loads() in try/except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lets bad JSON crash the 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failure: a friendly message plus the raw output is shown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Safety, Built 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at every layer of the 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medi_ppt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85806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91640"/>
            <a:ext cx="71323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relevant screen shows a disclaimer — sidebar, main area, results, footer.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7860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medi_ppt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2699309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532888"/>
            <a:ext cx="71323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forbids confirmed diagnoses and prescriptions.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41985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/home/claude/medi_ppt/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540557"/>
            <a:ext cx="261518" cy="261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374136"/>
            <a:ext cx="71323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possible_conditions are labelled as educational topics, not diagnoses.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426110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3" descr="/home/claude/medi_ppt/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4381805"/>
            <a:ext cx="261518" cy="261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215384"/>
            <a:ext cx="71323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output tells the user to seek emergency help immediately.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51023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4" descr="/home/claude/medi_ppt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5223053"/>
            <a:ext cx="261518" cy="26151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5056632"/>
            <a:ext cx="71323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symptoms: the app warns and does not call the API.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8778240" y="1691640"/>
            <a:ext cx="2834640" cy="4160520"/>
          </a:xfrm>
          <a:prstGeom prst="roundRect">
            <a:avLst>
              <a:gd name="adj" fmla="val 3226"/>
            </a:avLst>
          </a:prstGeom>
          <a:solidFill>
            <a:srgbClr val="EAF6F6"/>
          </a:solidFill>
          <a:ln/>
        </p:spPr>
      </p:sp>
      <p:sp>
        <p:nvSpPr>
          <p:cNvPr id="20" name="Text 13"/>
          <p:cNvSpPr/>
          <p:nvPr/>
        </p:nvSpPr>
        <p:spPr>
          <a:xfrm>
            <a:off x="9006840" y="18928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Levels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9006840" y="237744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02C39A"/>
          </a:solidFill>
          <a:ln/>
        </p:spPr>
      </p:sp>
      <p:sp>
        <p:nvSpPr>
          <p:cNvPr id="22" name="Text 15"/>
          <p:cNvSpPr/>
          <p:nvPr/>
        </p:nvSpPr>
        <p:spPr>
          <a:xfrm>
            <a:off x="9006840" y="23774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9006840" y="320040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5A623"/>
          </a:solidFill>
          <a:ln/>
        </p:spPr>
      </p:sp>
      <p:sp>
        <p:nvSpPr>
          <p:cNvPr id="24" name="Text 17"/>
          <p:cNvSpPr/>
          <p:nvPr/>
        </p:nvSpPr>
        <p:spPr>
          <a:xfrm>
            <a:off x="9006840" y="3200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9006840" y="402336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F2704B"/>
          </a:solidFill>
          <a:ln/>
        </p:spPr>
      </p:sp>
      <p:sp>
        <p:nvSpPr>
          <p:cNvPr id="26" name="Text 19"/>
          <p:cNvSpPr/>
          <p:nvPr/>
        </p:nvSpPr>
        <p:spPr>
          <a:xfrm>
            <a:off x="9006840" y="4023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9006840" y="4846320"/>
            <a:ext cx="2377440" cy="594360"/>
          </a:xfrm>
          <a:prstGeom prst="roundRect">
            <a:avLst>
              <a:gd name="adj" fmla="val 9231"/>
            </a:avLst>
          </a:prstGeom>
          <a:solidFill>
            <a:srgbClr val="D7263D"/>
          </a:solidFill>
          <a:ln/>
        </p:spPr>
      </p:sp>
      <p:sp>
        <p:nvSpPr>
          <p:cNvPr id="28" name="Text 21"/>
          <p:cNvSpPr/>
          <p:nvPr/>
        </p:nvSpPr>
        <p:spPr>
          <a:xfrm>
            <a:off x="9006840" y="4846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Test Scenarios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inputs that exercise the full range of behaviour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45720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97280" y="1417320"/>
            <a:ext cx="5760720" cy="45720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4173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0" y="1417320"/>
            <a:ext cx="4754880" cy="457200"/>
          </a:xfrm>
          <a:prstGeom prst="rect">
            <a:avLst/>
          </a:prstGeom>
          <a:solidFill>
            <a:srgbClr val="0F3D3E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1417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Behaviour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548640" cy="658368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74520"/>
            <a:ext cx="329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1874520"/>
            <a:ext cx="5760720" cy="658368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1874520"/>
            <a:ext cx="5541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25, runny nose + sore throat, 1–3 days, severity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874520"/>
            <a:ext cx="4754880" cy="658368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67728" y="1874520"/>
            <a:ext cx="45354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LOW; calm monitoring advice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532888"/>
            <a:ext cx="548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532888"/>
            <a:ext cx="329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2532888"/>
            <a:ext cx="57607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2532888"/>
            <a:ext cx="5541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40, fever + cough, 4–7 days, severity 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2532888"/>
            <a:ext cx="4754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2532888"/>
            <a:ext cx="45354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MEDIUM or HIGH; see a professional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191256"/>
            <a:ext cx="548640" cy="658368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191256"/>
            <a:ext cx="329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97280" y="3191256"/>
            <a:ext cx="5760720" cy="658368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3191256"/>
            <a:ext cx="5541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chest pain + shortness of breath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3191256"/>
            <a:ext cx="4754880" cy="658368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3191256"/>
            <a:ext cx="45354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HIGH or EMERGENCY; seek help now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849624"/>
            <a:ext cx="548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849624"/>
            <a:ext cx="329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97280" y="3849624"/>
            <a:ext cx="57607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3849624"/>
            <a:ext cx="5541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 twice with cache 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3849624"/>
            <a:ext cx="4754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3849624"/>
            <a:ext cx="45354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run faster; identical JSON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507992"/>
            <a:ext cx="548640" cy="658368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507992"/>
            <a:ext cx="329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97280" y="4507992"/>
            <a:ext cx="5760720" cy="658368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07008" y="4507992"/>
            <a:ext cx="5541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symptoms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0" y="4507992"/>
            <a:ext cx="4754880" cy="658368"/>
          </a:xfrm>
          <a:prstGeom prst="rect">
            <a:avLst/>
          </a:prstGeom>
          <a:solidFill>
            <a:srgbClr val="EAF6F6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67728" y="4507992"/>
            <a:ext cx="45354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shown; no API call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166360"/>
            <a:ext cx="548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5166360"/>
            <a:ext cx="3291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97280" y="5166360"/>
            <a:ext cx="57607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07008" y="5166360"/>
            <a:ext cx="55412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= Urdu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58000" y="5166360"/>
            <a:ext cx="47548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3E6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67728" y="5166360"/>
            <a:ext cx="45354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text returned in Urdu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Extras &amp; Demo Checklist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included, and how the submission is recorded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FB8B5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medi_ppt/he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0409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385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Extras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 table + urgency count in the sidebar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download of the educational report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answer languages: Urdu, Hindi, Arabic, Spanish, French — beyond English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35040" y="1645920"/>
            <a:ext cx="5577840" cy="4114800"/>
          </a:xfrm>
          <a:prstGeom prst="roundRect">
            <a:avLst>
              <a:gd name="adj" fmla="val 2222"/>
            </a:avLst>
          </a:prstGeom>
          <a:solidFill>
            <a:srgbClr val="0F3D3E"/>
          </a:solidFill>
          <a:ln/>
        </p:spPr>
      </p:sp>
      <p:sp>
        <p:nvSpPr>
          <p:cNvPr id="10" name="Shape 7"/>
          <p:cNvSpPr/>
          <p:nvPr/>
        </p:nvSpPr>
        <p:spPr>
          <a:xfrm>
            <a:off x="6309360" y="19202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home/claude/medi_ppt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61" y="20409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9385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for Submission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400800" y="274320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0"/>
          <p:cNvSpPr/>
          <p:nvPr/>
        </p:nvSpPr>
        <p:spPr>
          <a:xfrm>
            <a:off x="6400800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858000" y="26517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form and submit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0" y="340156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0" y="3401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858000" y="33101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text appearing live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400800" y="405993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6"/>
          <p:cNvSpPr/>
          <p:nvPr/>
        </p:nvSpPr>
        <p:spPr>
          <a:xfrm>
            <a:off x="6400800" y="4059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858000" y="39684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colour-coded dashboard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00800" y="471830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19"/>
          <p:cNvSpPr/>
          <p:nvPr/>
        </p:nvSpPr>
        <p:spPr>
          <a:xfrm>
            <a:off x="6400800" y="4718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858000" y="46268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 a second identical submit with cache enabled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MediGuide AI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3657600" cy="36576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49240" y="128016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medi_ppt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6750" y="14776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MediGuide AI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medical-app897897.streamlit.app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37360" y="38404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 prompting. Structured guidance. Built for education.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737360" y="5120640"/>
            <a:ext cx="8686800" cy="777240"/>
          </a:xfrm>
          <a:prstGeom prst="roundRect">
            <a:avLst>
              <a:gd name="adj" fmla="val 9412"/>
            </a:avLst>
          </a:prstGeom>
          <a:solidFill>
            <a:srgbClr val="3A1418"/>
          </a:solidFill>
          <a:ln w="12700">
            <a:solidFill>
              <a:srgbClr val="D72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65960" y="5120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FFD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education only — not for clinical use, diagnosis, or treatment. In an emergency, call your local emergency number immediately.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2026-08-31T05:16:47Z</dcterms:created>
  <dcterms:modified xsi:type="dcterms:W3CDTF">2026-08-31T05:16:47Z</dcterms:modified>
</cp:coreProperties>
</file>